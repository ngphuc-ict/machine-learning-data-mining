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embeddedFontLst>
    <p:embeddedFont>
      <p:font typeface="Lato"/>
      <p:regular r:id="rId12"/>
      <p:bold r:id="rId13"/>
      <p:italic r:id="rId14"/>
      <p:boldItalic r:id="rId15"/>
    </p:embeddedFont>
    <p:embeddedFont>
      <p:font typeface="Poppins"/>
      <p:regular r:id="rId16"/>
      <p:bold r:id="rId17"/>
      <p:italic r:id="rId18"/>
      <p:boldItalic r:id="rId19"/>
    </p:embeddedFont>
    <p:embeddedFont>
      <p:font typeface="Poppins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28E8FD-E8CE-4ECE-BDD0-262BC090649F}">
  <a:tblStyle styleId="{0828E8FD-E8CE-4ECE-BDD0-262BC09064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22" Type="http://schemas.openxmlformats.org/officeDocument/2006/relationships/font" Target="fonts/PoppinsSemiBold-italic.fntdata"/><Relationship Id="rId10" Type="http://schemas.openxmlformats.org/officeDocument/2006/relationships/slide" Target="slides/slide4.xml"/><Relationship Id="rId21" Type="http://schemas.openxmlformats.org/officeDocument/2006/relationships/font" Target="fonts/PoppinsSemiBold-bold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23" Type="http://schemas.openxmlformats.org/officeDocument/2006/relationships/font" Target="fonts/Poppi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875" y="3778001"/>
            <a:ext cx="8096250" cy="142398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838700" y="1655861"/>
            <a:ext cx="2514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BÁO CÁO BÀI TẬP TUẦN 2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99979" y="2055911"/>
            <a:ext cx="6391892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Xây Dựng Baseline MLP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2865389"/>
            <a:ext cx="762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Dự đoán mức lương khởi điểm của sinh viên dựa trên bộ kỹ năng chuyên môn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047875" y="4025651"/>
            <a:ext cx="292983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HỌC PHẦN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047875" y="4287589"/>
            <a:ext cx="2929830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Học máy và Khai phá dữ liệu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49230" y="4025651"/>
            <a:ext cx="4394894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THÀNH VIÊN THỰC HIỆN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49230" y="4316164"/>
            <a:ext cx="439489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Nguyễn Hồng Phúc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(Nhóm trưởng)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749230" y="4630489"/>
            <a:ext cx="212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Nguyễn Tiến Thành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018115" y="4630489"/>
            <a:ext cx="212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Nguyễn Thuận Phong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749230" y="4944814"/>
            <a:ext cx="212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Hàn Minh Tùng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018115" y="4944814"/>
            <a:ext cx="212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Ninh Viết Mạnh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3575"/>
            <a:ext cx="5334000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33575"/>
            <a:ext cx="533400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62025" y="2324100"/>
            <a:ext cx="4780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Xử Lý &amp; Chuẩn Hóa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2809875"/>
            <a:ext cx="4552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Quy trình tinh lọc dữ liệu từ tệp đầu vào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student_placement_salary_elite_v2.csv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77025" y="2324100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Phân Chia Dữ Liệu (Split)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77025" y="2809875"/>
            <a:ext cx="4552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Tỷ lệ phân chia tối ưu hóa cho huấn luyện và kiểm thử mô hình ổn định: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200150" y="3438525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Loại bỏ hoàn toàn các trường dữ liệu bị thiếu (dropna) để tối ưu hóa mạng ANN.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00150" y="4067175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Sử dụng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StandardScaler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để chuẩn hóa thang đo các đặc trưng (cgpa, coding_score, v.v.).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200150" y="4695825"/>
            <a:ext cx="43148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Loại bỏ cột mục tiêu salary_lpa và nhãn phân loại phụ placed khỏi tập đặc trưng (X).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915150" y="3438525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Train set (70%):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5,391 mẫu - dùng để cập nhật trọng số và tối ưu mô hình.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915150" y="4067175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Validation set (15%):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1,155 mẫu - dùng để đánh giá độ chệch và tinh chỉnh quá trình huấn luyện.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15150" y="4695825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Test set (15%):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1,156 mẫu - đánh giá độc lập hiệu năng thực tế cuối cùng.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62025" y="3438525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✦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62025" y="4067175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✦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2025" y="4695825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✦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677025" y="3438525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✦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677025" y="4067175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✦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677025" y="4695825"/>
            <a:ext cx="133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✦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14375" y="571500"/>
            <a:ext cx="1145143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Tiền Xử Lý Dữ Liệu &amp; Phân Chia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571500" y="571500"/>
            <a:ext cx="47625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14375" y="571500"/>
            <a:ext cx="54006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Cấu Trúc Mô Hình Baseline MLP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47625" cy="1047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1905000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Thiết Kế Mạng Đa Tầng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3907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Cấu hình kiến trúc Baseline MLP được xây dựng bằng PyTorch: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4457700"/>
            <a:ext cx="5550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Hàm Loss &amp; Bộ Tối Ưu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71500" y="49434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Sử dụng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MSE Loss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làm hàm mục tiêu tối ưu, tối ưu hóa thông qua bộ công cụ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Adam Optimizer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với tỷ lệ học (learning rate) mặc định là 0.001.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66750" y="29146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62000" y="2914650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Input Layer: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14 đầu vào (các chỉ số kỹ năng &amp; điểm số).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66750" y="32480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62000" y="3248025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Hidden Layer 1: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64 nút, kích hoạt bằng hàm ReLU().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66750" y="3590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62000" y="3590925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Hidden Layer 2: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32 nút, kích hoạt bằng hàm ReLU().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66750" y="39338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762000" y="3933825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Output Layer: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1 nút đầu ra dự đoán hồi quy (salary_lpa).</a:t>
            </a:r>
            <a:endParaRPr/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2188" y="4924425"/>
            <a:ext cx="50006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title="BaselineML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875" y="1074542"/>
            <a:ext cx="5631825" cy="375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71500" y="5762620"/>
            <a:ext cx="1104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Nhận xét: Quá trình tối ưu hóa diễn ra mượt mà và ổn định qua 100 epochs. Mức Loss suy giảm nhanh chóng ở </a:t>
            </a:r>
            <a:r>
              <a:rPr lang="en-US" sz="12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 epochs đầu tiên và đạt trạng thái hội tụ ổn định ở các epoch sau.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14375" y="571500"/>
            <a:ext cx="1145143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Lịch Sử Huấn Luyện (Loss Trends)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571500"/>
            <a:ext cx="47625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0" y="1190625"/>
            <a:ext cx="6705600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7"/>
          <p:cNvGraphicFramePr/>
          <p:nvPr/>
        </p:nvGraphicFramePr>
        <p:xfrm>
          <a:off x="571500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{0828E8FD-E8CE-4ECE-BDD0-262BC090649F}</a:tableStyleId>
              </a:tblPr>
              <a:tblGrid>
                <a:gridCol w="3241325"/>
                <a:gridCol w="1837125"/>
                <a:gridCol w="5970525"/>
              </a:tblGrid>
              <a:tr h="5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Độ đo Đánh giá (Metrics)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Giá trị Đạt được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Ý nghĩa Thống kê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MAE</a:t>
                      </a: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(Sai số Tuyệt đối Trung bình)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8.4412 LPA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Trung bình sai lệch khoảng 8.4 Lakhs (~25 triệu VND/năm) so với thực tế.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MSE</a:t>
                      </a: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(Sai số Bình phương Trung bình)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116.3220 LPA²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Đánh giá phạt mạnh các trường hợp dự đoán lệch quá lớn.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R² Score</a:t>
                      </a: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(Hệ số Xác định)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0.5824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Mô hình Baseline giải thích được khoảng 58.24% biến động của lương.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17"/>
          <p:cNvSpPr/>
          <p:nvPr/>
        </p:nvSpPr>
        <p:spPr>
          <a:xfrm>
            <a:off x="571500" y="2652712"/>
            <a:ext cx="32413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812827" y="2652712"/>
            <a:ext cx="18371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649962" y="2652712"/>
            <a:ext cx="59705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71500" y="3186112"/>
            <a:ext cx="32413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3812827" y="3186112"/>
            <a:ext cx="18371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649962" y="3186112"/>
            <a:ext cx="59705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3719512"/>
            <a:ext cx="32413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812827" y="3719512"/>
            <a:ext cx="18371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649962" y="3719512"/>
            <a:ext cx="59705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714375" y="571500"/>
            <a:ext cx="1145143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Đánh Giá Hiệu Năng &amp; Kết Quả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71500" y="571500"/>
            <a:ext cx="47625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